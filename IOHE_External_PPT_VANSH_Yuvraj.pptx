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9" r:id="rId7"/>
    <p:sldId id="270" r:id="rId8"/>
    <p:sldId id="271" r:id="rId9"/>
    <p:sldId id="277" r:id="rId10"/>
    <p:sldId id="272" r:id="rId11"/>
    <p:sldId id="273" r:id="rId12"/>
    <p:sldId id="274" r:id="rId13"/>
    <p:sldId id="275" r:id="rId14"/>
    <p:sldId id="276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1CDCFF-470D-4D5D-B492-D633F0489760}" v="21" dt="2026-05-14T19:16:11.2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200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600" dirty="0"/>
              <a:t>Impact of Caching Strategies on Large-Scale Backend Application Performance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16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Submitted By: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fi-FI" sz="1200" b="1" dirty="0"/>
              <a:t>Vansh Tomer </a:t>
            </a:r>
            <a:r>
              <a:rPr lang="fi-FI" sz="1200" dirty="0"/>
              <a:t>(2210994857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1200" b="1" dirty="0"/>
              <a:t>       Yuvraj Prajapat </a:t>
            </a:r>
            <a:r>
              <a:rPr lang="en-IN" sz="1200" dirty="0"/>
              <a:t>(2210992573) </a:t>
            </a:r>
            <a:endParaRPr lang="en-US" sz="12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By:</a:t>
            </a:r>
            <a:endParaRPr lang="en-IN" dirty="0"/>
          </a:p>
          <a:p>
            <a:r>
              <a:rPr lang="en-IN" dirty="0"/>
              <a:t> 				  </a:t>
            </a:r>
            <a:r>
              <a:rPr lang="en-IN" sz="1400" b="1" dirty="0"/>
              <a:t>Dr. Swati Goel</a:t>
            </a:r>
            <a:endParaRPr lang="en-IN" sz="1400" dirty="0"/>
          </a:p>
          <a:p>
            <a:r>
              <a:rPr lang="it-IT" sz="1400" dirty="0"/>
              <a:t>				Associate Professor </a:t>
            </a:r>
            <a:endParaRPr lang="en-US" sz="14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Backend Catching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200" dirty="0"/>
          </a:p>
          <a:p>
            <a:pPr>
              <a:defRPr sz="2000" b="1"/>
            </a:pPr>
            <a:r>
              <a:rPr lang="en-US" sz="2200" dirty="0"/>
              <a:t>What is Caching?</a:t>
            </a:r>
          </a:p>
          <a:p>
            <a:pPr lvl="1">
              <a:defRPr sz="1600"/>
            </a:pPr>
            <a:r>
              <a:rPr lang="en-US" sz="2200" dirty="0"/>
              <a:t>Caching is the process of storing frequently accessed data temporarily to reduce server load and improve response speed.</a:t>
            </a:r>
          </a:p>
          <a:p>
            <a:pPr>
              <a:defRPr sz="2000" b="1"/>
            </a:pPr>
            <a:r>
              <a:rPr lang="en-US" sz="2200" dirty="0"/>
              <a:t>Importance in Modern Applications</a:t>
            </a:r>
          </a:p>
          <a:p>
            <a:pPr lvl="1">
              <a:defRPr sz="1600"/>
            </a:pPr>
            <a:r>
              <a:rPr lang="en-US" sz="2200" dirty="0"/>
              <a:t>Large-scale applications such as e-commerce, streaming platforms, and social media rely heavily on caching for smooth performance.</a:t>
            </a:r>
          </a:p>
          <a:p>
            <a:pPr>
              <a:defRPr sz="2000" b="1"/>
            </a:pPr>
            <a:r>
              <a:rPr lang="en-US" sz="2200" dirty="0"/>
              <a:t>Primary Goal</a:t>
            </a:r>
          </a:p>
          <a:p>
            <a:pPr lvl="1">
              <a:defRPr sz="1600"/>
            </a:pPr>
            <a:r>
              <a:rPr lang="en-US" sz="2200" dirty="0"/>
              <a:t>The main objective is to minimize latency, optimize throughput, and enhance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1698-88EF-FD30-4F73-EC239DBB6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FAC2823-8CDF-BCE2-BDA5-8A13F6BEF671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6673D9B-487B-02FE-5FF8-178664132B5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5EE0FC2-2074-4C69-61EC-7244A2FE30EF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200" dirty="0"/>
          </a:p>
          <a:p>
            <a:pPr>
              <a:defRPr sz="2000" b="1"/>
            </a:pPr>
            <a:r>
              <a:rPr lang="en-US" sz="2200" dirty="0"/>
              <a:t>Repeated Database Queries</a:t>
            </a:r>
          </a:p>
          <a:p>
            <a:pPr lvl="1">
              <a:defRPr sz="1600"/>
            </a:pPr>
            <a:r>
              <a:rPr lang="en-US" sz="2200" dirty="0"/>
              <a:t>Continuous database access for identical requests increases response time and server workload.</a:t>
            </a:r>
          </a:p>
          <a:p>
            <a:pPr>
              <a:defRPr sz="2000" b="1"/>
            </a:pPr>
            <a:r>
              <a:rPr lang="en-US" sz="2200" dirty="0"/>
              <a:t>High User Traffic</a:t>
            </a:r>
          </a:p>
          <a:p>
            <a:pPr lvl="1">
              <a:defRPr sz="1600"/>
            </a:pPr>
            <a:r>
              <a:rPr lang="en-US" sz="2200" dirty="0"/>
              <a:t>Large numbers of concurrent users can create bottlenecks in backend systems.</a:t>
            </a:r>
          </a:p>
          <a:p>
            <a:pPr>
              <a:defRPr sz="2000" b="1"/>
            </a:pPr>
            <a:r>
              <a:rPr lang="en-US" sz="2200" dirty="0"/>
              <a:t>Need for Optimization</a:t>
            </a:r>
          </a:p>
          <a:p>
            <a:pPr lvl="1">
              <a:defRPr sz="1600"/>
            </a:pPr>
            <a:r>
              <a:rPr lang="en-US" sz="2200" dirty="0"/>
              <a:t>Efficient caching mechanisms are required to ensure fast and reliable application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574948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F3ED-025D-5DB6-85B3-5B8DC0371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9EB7CE8-6295-2C25-FD24-7931204F8720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255CB3D-C713-C3C3-3E47-899954051AC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275241E-803C-1C09-FF4A-51567F51342E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200" dirty="0"/>
          </a:p>
          <a:p>
            <a:pPr>
              <a:defRPr sz="2000" b="1"/>
            </a:pPr>
            <a:r>
              <a:rPr lang="en-US" sz="2200" dirty="0"/>
              <a:t>Analyze Caching Techniques</a:t>
            </a:r>
          </a:p>
          <a:p>
            <a:pPr lvl="1">
              <a:defRPr sz="1600"/>
            </a:pPr>
            <a:r>
              <a:rPr lang="en-US" sz="2200" dirty="0"/>
              <a:t>Study different backend caching strategies used in modern distributed systems.</a:t>
            </a:r>
          </a:p>
          <a:p>
            <a:pPr>
              <a:defRPr sz="2000" b="1"/>
            </a:pPr>
            <a:r>
              <a:rPr lang="en-US" sz="2200" dirty="0"/>
              <a:t>Compare Technologies</a:t>
            </a:r>
          </a:p>
          <a:p>
            <a:pPr lvl="1">
              <a:defRPr sz="1600"/>
            </a:pPr>
            <a:r>
              <a:rPr lang="en-US" sz="2200" dirty="0"/>
              <a:t>Evaluate in-memory caching, Redis caching, and cache-aside patterns.</a:t>
            </a:r>
          </a:p>
          <a:p>
            <a:pPr>
              <a:defRPr sz="2000" b="1"/>
            </a:pPr>
            <a:r>
              <a:rPr lang="en-US" sz="2200" dirty="0"/>
              <a:t>Performance Evaluation</a:t>
            </a:r>
          </a:p>
          <a:p>
            <a:pPr lvl="1">
              <a:defRPr sz="1600"/>
            </a:pPr>
            <a:r>
              <a:rPr lang="en-US" sz="2200" dirty="0"/>
              <a:t>Measure improvements in response time, request handling, and scalability.</a:t>
            </a:r>
          </a:p>
        </p:txBody>
      </p:sp>
    </p:spTree>
    <p:extLst>
      <p:ext uri="{BB962C8B-B14F-4D97-AF65-F5344CB8AC3E}">
        <p14:creationId xmlns:p14="http://schemas.microsoft.com/office/powerpoint/2010/main" val="28129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DA62B-13B1-280C-1439-30C953F70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E530FC0-04B6-0AC8-5913-DAA15ED2B17D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3DCF5E0-91D1-C897-C585-98E783BBE8A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14DC119-1B6A-2650-E40F-71FCFB30AC26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IN" sz="2200" b="1" dirty="0"/>
              <a:t>Backend Development</a:t>
            </a:r>
            <a:endParaRPr lang="en-IN" sz="2200" dirty="0"/>
          </a:p>
          <a:p>
            <a:r>
              <a:rPr lang="en-IN" sz="2200" dirty="0"/>
              <a:t>A prototype backend system was developed using Node.js and Express.js.</a:t>
            </a:r>
          </a:p>
          <a:p>
            <a:r>
              <a:rPr lang="en-IN" sz="2200" b="1" dirty="0"/>
              <a:t>Testing Environment</a:t>
            </a:r>
            <a:endParaRPr lang="en-IN" sz="2200" dirty="0"/>
          </a:p>
          <a:p>
            <a:r>
              <a:rPr lang="en-IN" sz="2200" dirty="0"/>
              <a:t>Large datasets and simulated user requests were used for realistic performance analysis.</a:t>
            </a:r>
          </a:p>
          <a:p>
            <a:r>
              <a:rPr lang="en-IN" sz="2200" b="1" dirty="0"/>
              <a:t>Benchmarking Tools</a:t>
            </a:r>
            <a:endParaRPr lang="en-IN" sz="2200" dirty="0"/>
          </a:p>
          <a:p>
            <a:r>
              <a:rPr lang="en-IN" sz="2200" dirty="0"/>
              <a:t>Autocannon was used to measure throughput, latency, and request performance.</a:t>
            </a:r>
            <a:endParaRPr lang="en-IN" sz="2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20062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532308-4926-EE7E-39A2-16D8D2485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35680" cy="6949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B4B07E-D128-4B0F-BF6F-3CDD2D79452D}"/>
              </a:ext>
            </a:extLst>
          </p:cNvPr>
          <p:cNvSpPr txBox="1"/>
          <p:nvPr/>
        </p:nvSpPr>
        <p:spPr>
          <a:xfrm>
            <a:off x="4255008" y="2487168"/>
            <a:ext cx="48036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FLOWCHART FOR METHODOLOGY 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828667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0819C-197D-9380-990A-1AAFCC20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EBE9C73-E608-6A6F-0B73-6A97C3A67C54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caching strategies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ABAA8490-2B0F-BB18-E008-0F0A64DE897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E0602E2-309C-429D-46B1-884BADF1EA46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200" dirty="0"/>
          </a:p>
          <a:p>
            <a:pPr>
              <a:defRPr sz="2000" b="1"/>
            </a:pPr>
            <a:r>
              <a:rPr lang="en-US" sz="2200" dirty="0"/>
              <a:t>In-Memory Caching</a:t>
            </a:r>
          </a:p>
          <a:p>
            <a:pPr lvl="1">
              <a:defRPr sz="1600"/>
            </a:pPr>
            <a:r>
              <a:rPr lang="en-US" sz="2200" dirty="0"/>
              <a:t>Stores data directly in server memory for extremely fast retrieval.</a:t>
            </a:r>
          </a:p>
          <a:p>
            <a:pPr>
              <a:defRPr sz="2000" b="1"/>
            </a:pPr>
            <a:r>
              <a:rPr lang="en-US" sz="2200" dirty="0"/>
              <a:t>Redis Distributed Caching</a:t>
            </a:r>
          </a:p>
          <a:p>
            <a:pPr lvl="1">
              <a:defRPr sz="1600"/>
            </a:pPr>
            <a:r>
              <a:rPr lang="en-US" sz="2200" dirty="0"/>
              <a:t>Uses Redis as an external cache to support scalability across multiple servers.</a:t>
            </a:r>
          </a:p>
          <a:p>
            <a:pPr>
              <a:defRPr sz="2000" b="1"/>
            </a:pPr>
            <a:r>
              <a:rPr lang="en-US" sz="2200" dirty="0"/>
              <a:t>Cache-Aside Pattern</a:t>
            </a:r>
          </a:p>
          <a:p>
            <a:pPr lvl="1">
              <a:defRPr sz="1600"/>
            </a:pPr>
            <a:r>
              <a:rPr lang="en-US" sz="2200" dirty="0"/>
              <a:t>Loads data into cache only when requested, reducing unnecessary memory usage.</a:t>
            </a:r>
          </a:p>
        </p:txBody>
      </p:sp>
    </p:spTree>
    <p:extLst>
      <p:ext uri="{BB962C8B-B14F-4D97-AF65-F5344CB8AC3E}">
        <p14:creationId xmlns:p14="http://schemas.microsoft.com/office/powerpoint/2010/main" val="2381063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684C-B090-90B0-588D-26F58C8FE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8FBB066-F701-0DB8-3195-A9194966CF11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5A11CEB-4B1F-545D-145B-808BEF1B95F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EBCF4EB-D6C4-7CF5-1CA4-38712AC3C4AF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dirty="0"/>
          </a:p>
          <a:p>
            <a:pPr>
              <a:defRPr sz="2000" b="1"/>
            </a:pPr>
            <a:r>
              <a:rPr lang="en-US" dirty="0"/>
              <a:t>Reduced Response Time</a:t>
            </a:r>
          </a:p>
          <a:p>
            <a:pPr lvl="1">
              <a:defRPr sz="1600"/>
            </a:pPr>
            <a:r>
              <a:rPr lang="en-US" dirty="0"/>
              <a:t>Caching significantly decreased API response delays compared to direct database access.</a:t>
            </a:r>
          </a:p>
          <a:p>
            <a:pPr>
              <a:defRPr sz="2000" b="1"/>
            </a:pPr>
            <a:r>
              <a:rPr lang="en-US" dirty="0"/>
              <a:t>Improved Throughput</a:t>
            </a:r>
          </a:p>
          <a:p>
            <a:pPr lvl="1">
              <a:defRPr sz="1600"/>
            </a:pPr>
            <a:r>
              <a:rPr lang="en-US" dirty="0"/>
              <a:t>The backend handled a larger number of requests per second after caching implementation.</a:t>
            </a:r>
          </a:p>
          <a:p>
            <a:pPr>
              <a:defRPr sz="2000" b="1"/>
            </a:pPr>
            <a:r>
              <a:rPr lang="en-US" dirty="0"/>
              <a:t>Enhanced Scalability</a:t>
            </a:r>
          </a:p>
          <a:p>
            <a:pPr lvl="1">
              <a:defRPr sz="1600"/>
            </a:pPr>
            <a:r>
              <a:rPr lang="en-US" dirty="0"/>
              <a:t>Redis-based distributed caching performed efficiently under heavy traffic conditions.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41C044-3A9A-CC1B-BB35-95FBCBAF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8560"/>
            <a:ext cx="2866748" cy="20339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C7C1C5-F326-13B6-5BEA-6087EAD02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360" y="4494318"/>
            <a:ext cx="2779378" cy="20445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8B19F9-BE93-FE6C-17CF-7F6573134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136" y="3718560"/>
            <a:ext cx="2891248" cy="204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884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3ABC9-6FD0-E8EA-1CD7-0140CED1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962879D-2DAC-0B1C-E1B5-B2D95B38EB35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backend caching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8903570-31DD-38D1-BB29-CA95FD45C2D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B40FA35-27F2-2ECA-E26B-9480640F11D7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200" dirty="0"/>
          </a:p>
          <a:p>
            <a:pPr>
              <a:defRPr sz="2000" b="1"/>
            </a:pPr>
            <a:r>
              <a:rPr lang="en-US" sz="2200" dirty="0"/>
              <a:t>Faster Application Performance</a:t>
            </a:r>
          </a:p>
          <a:p>
            <a:pPr lvl="1">
              <a:defRPr sz="1600"/>
            </a:pPr>
            <a:r>
              <a:rPr lang="en-US" sz="2200" dirty="0"/>
              <a:t>Users experience quicker page loads and smoother interactions.</a:t>
            </a:r>
          </a:p>
          <a:p>
            <a:pPr>
              <a:defRPr sz="2000" b="1"/>
            </a:pPr>
            <a:r>
              <a:rPr lang="en-US" sz="2200" dirty="0"/>
              <a:t>Lower Database Load</a:t>
            </a:r>
          </a:p>
          <a:p>
            <a:pPr lvl="1">
              <a:defRPr sz="1600"/>
            </a:pPr>
            <a:r>
              <a:rPr lang="en-US" sz="2200" dirty="0"/>
              <a:t>Frequent queries are reduced, decreasing pressure on database servers.</a:t>
            </a:r>
          </a:p>
          <a:p>
            <a:pPr>
              <a:defRPr sz="2000" b="1"/>
            </a:pPr>
            <a:r>
              <a:rPr lang="en-US" sz="2200" dirty="0"/>
              <a:t>Better User Experience</a:t>
            </a:r>
          </a:p>
          <a:p>
            <a:pPr lvl="1">
              <a:defRPr sz="1600"/>
            </a:pPr>
            <a:r>
              <a:rPr lang="en-US" sz="2200" dirty="0"/>
              <a:t>Applications become more responsive and reliable during peak traffic.</a:t>
            </a:r>
          </a:p>
        </p:txBody>
      </p:sp>
    </p:spTree>
    <p:extLst>
      <p:ext uri="{BB962C8B-B14F-4D97-AF65-F5344CB8AC3E}">
        <p14:creationId xmlns:p14="http://schemas.microsoft.com/office/powerpoint/2010/main" val="2604583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1D9E6-458B-8456-2A4E-3FF618BD0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C96173D-5DA6-6CB4-6AC5-B773B38E18A6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limitations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7BFD209-DDC0-4FE5-7DBD-86982C852DC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51BD4CA3-88F0-1425-C4BD-20BF18B7F8DF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400" dirty="0"/>
          </a:p>
          <a:p>
            <a:pPr>
              <a:defRPr sz="2000" b="1"/>
            </a:pPr>
            <a:r>
              <a:rPr lang="en-US" sz="2400" dirty="0"/>
              <a:t>Cache Invalidation</a:t>
            </a:r>
          </a:p>
          <a:p>
            <a:pPr lvl="1">
              <a:defRPr sz="1600"/>
            </a:pPr>
            <a:r>
              <a:rPr lang="en-US" sz="2400" dirty="0"/>
              <a:t>Managing outdated or stale cache data can be complex.</a:t>
            </a:r>
          </a:p>
          <a:p>
            <a:pPr>
              <a:defRPr sz="2000" b="1"/>
            </a:pPr>
            <a:r>
              <a:rPr lang="en-US" sz="2400" dirty="0"/>
              <a:t>Memory Consumption</a:t>
            </a:r>
          </a:p>
          <a:p>
            <a:pPr lvl="1">
              <a:defRPr sz="1600"/>
            </a:pPr>
            <a:r>
              <a:rPr lang="en-US" sz="2400" dirty="0"/>
              <a:t>Large caches require efficient memory allocation and monitoring.</a:t>
            </a:r>
          </a:p>
          <a:p>
            <a:pPr>
              <a:defRPr sz="2000" b="1"/>
            </a:pPr>
            <a:r>
              <a:rPr lang="en-US" sz="2400" dirty="0"/>
              <a:t>Synchronization Issues</a:t>
            </a:r>
          </a:p>
          <a:p>
            <a:pPr lvl="1">
              <a:defRPr sz="1600"/>
            </a:pPr>
            <a:r>
              <a:rPr lang="en-US" sz="2400" dirty="0"/>
              <a:t>Distributed systems may face consistency problems between cache and database.</a:t>
            </a:r>
          </a:p>
        </p:txBody>
      </p:sp>
    </p:spTree>
    <p:extLst>
      <p:ext uri="{BB962C8B-B14F-4D97-AF65-F5344CB8AC3E}">
        <p14:creationId xmlns:p14="http://schemas.microsoft.com/office/powerpoint/2010/main" val="1849700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FD9FB-72E7-39A0-48C4-A416CC3B9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B0AA34B-019B-A18F-D0FD-BB228CA80CAF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6875176-0C4C-CFD1-DC5C-AAB032D0455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7F614C6-9265-FEB8-85A3-8F5D7F98B6F0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200" dirty="0"/>
          </a:p>
          <a:p>
            <a:pPr>
              <a:defRPr sz="2000" b="1"/>
            </a:pPr>
            <a:r>
              <a:rPr lang="en-US" sz="2200" dirty="0"/>
              <a:t>Importance of Caching</a:t>
            </a:r>
          </a:p>
          <a:p>
            <a:pPr lvl="1">
              <a:defRPr sz="1600"/>
            </a:pPr>
            <a:r>
              <a:rPr lang="en-US" sz="2200" dirty="0"/>
              <a:t>Caching is essential for maintaining performance in large-scale backend systems.</a:t>
            </a:r>
          </a:p>
          <a:p>
            <a:pPr>
              <a:defRPr sz="2000" b="1"/>
            </a:pPr>
            <a:r>
              <a:rPr lang="en-US" sz="2200" dirty="0"/>
              <a:t>Best Performing Strategy</a:t>
            </a:r>
          </a:p>
          <a:p>
            <a:pPr lvl="1">
              <a:defRPr sz="1600"/>
            </a:pPr>
            <a:r>
              <a:rPr lang="en-US" sz="2200" dirty="0"/>
              <a:t>Redis and cache-aside strategies provided strong scalability and efficiency.</a:t>
            </a:r>
          </a:p>
          <a:p>
            <a:pPr>
              <a:defRPr sz="2000" b="1"/>
            </a:pPr>
            <a:r>
              <a:rPr lang="en-US" sz="2200" dirty="0"/>
              <a:t>Final Observation</a:t>
            </a:r>
          </a:p>
          <a:p>
            <a:pPr lvl="1">
              <a:defRPr sz="1600"/>
            </a:pPr>
            <a:r>
              <a:rPr lang="en-US" sz="2200" dirty="0"/>
              <a:t>Optimized caching significantly improves latency, throughput, and overall application reliability.</a:t>
            </a:r>
          </a:p>
        </p:txBody>
      </p:sp>
    </p:spTree>
    <p:extLst>
      <p:ext uri="{BB962C8B-B14F-4D97-AF65-F5344CB8AC3E}">
        <p14:creationId xmlns:p14="http://schemas.microsoft.com/office/powerpoint/2010/main" val="3887731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35486</TotalTime>
  <Words>520</Words>
  <Application>Microsoft Office PowerPoint</Application>
  <PresentationFormat>On-screen Show (4:3)</PresentationFormat>
  <Paragraphs>98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vriti jaitley</cp:lastModifiedBy>
  <cp:revision>2300</cp:revision>
  <dcterms:created xsi:type="dcterms:W3CDTF">2010-04-09T07:36:15Z</dcterms:created>
  <dcterms:modified xsi:type="dcterms:W3CDTF">2026-05-14T19:21:00Z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